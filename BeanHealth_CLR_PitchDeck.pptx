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82880"/>
            <a:ext cx="164592" cy="164592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82880"/>
            <a:ext cx="164592" cy="164592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182880"/>
            <a:ext cx="164592" cy="164592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182880"/>
            <a:ext cx="164592" cy="164592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82880"/>
            <a:ext cx="164592" cy="164592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475488"/>
            <a:ext cx="128016" cy="128016"/>
          </a:xfrm>
          <a:prstGeom prst="ellipse">
            <a:avLst/>
          </a:prstGeom>
          <a:solidFill>
            <a:srgbClr val="7EC8E3">
              <a:alpha val="30000"/>
            </a:srgbClr>
          </a:solidFill>
          <a:ln w="12700">
            <a:solidFill>
              <a:srgbClr val="7EC8E3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0" y="475488"/>
            <a:ext cx="128016" cy="128016"/>
          </a:xfrm>
          <a:prstGeom prst="ellipse">
            <a:avLst/>
          </a:prstGeom>
          <a:solidFill>
            <a:srgbClr val="7EC8E3">
              <a:alpha val="30000"/>
            </a:srgbClr>
          </a:solidFill>
          <a:ln w="12700">
            <a:solidFill>
              <a:srgbClr val="7EC8E3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475488"/>
            <a:ext cx="128016" cy="128016"/>
          </a:xfrm>
          <a:prstGeom prst="ellipse">
            <a:avLst/>
          </a:prstGeom>
          <a:solidFill>
            <a:srgbClr val="7EC8E3">
              <a:alpha val="30000"/>
            </a:srgbClr>
          </a:solidFill>
          <a:ln w="12700">
            <a:solidFill>
              <a:srgbClr val="7EC8E3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777240"/>
            <a:ext cx="2194560" cy="320040"/>
          </a:xfrm>
          <a:prstGeom prst="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777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EyeQ Innovate Hackathon 2.0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BeanHealth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7EC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CLR Screening Tool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029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Phone-based AI triage for strabismus — no ophthalmologist required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Corneal Light Reflex (CLR) Asymmetry Analysis  </a:t>
            </a:r>
            <a:pPr algn="l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l" indent="0" marL="0">
              <a:buNone/>
            </a:pPr>
            <a:r>
              <a:rPr lang="en-US" sz="100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MediaPipe · OpenCV · Next.js · FastAPI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31089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560320" cy="1097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have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strabismus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(squint)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77724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822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Too 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06984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children are diagnosed after age 7 — the critical window for full correction has closed. Late detection causes permanent amblyopia (lazy eye).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87452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87452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920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Access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16712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requires an ophthalmologist — a specialist absent from most rural clinics, with urban waiting times of 3–6 months.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297180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97180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0175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First-Line Tool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26440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school nurses, and parents have no reliable, low-cost tool to perform a credible first-line screen and prioritise urgent referrals.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Strabismus is fully correctable if treated before age 7.  After that window: permanent vision loss.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INNOVATION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A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Automating the Hirschberg Corneal Light Reflex Test on a smartphone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Hirschberg Test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150-year-old clinical standard: shine a light at both eyes and measure where the reflection lands on each cornea. Off-centre reflection = deviated eye.
</a:t>
            </a:r>
            <a:pPr indent="0" marL="0">
              <a:buNone/>
            </a:pPr>
            <a:r>
              <a:rPr lang="en-US" sz="11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automated, phone-based version. The phone torch acts as the light source. Our 7-module AI pipeline detects both eyes, measures the corneal light reflex (CLR) position in each, computes the inter-ocular asymmetry, and outputs a clinical triage tier — in under 3 seconds.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1188720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averaging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8470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15 frames, rejects blinks and outliers via IQR, averages result. Reduces single-frame noise from ±5° to ±0.7°.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49440" y="118872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1188720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hardware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18470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the phone's built-in camera and torch. No attachments, no calibration device.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697480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ICD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46320" y="3172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output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3558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ICD-10 codes, deviation angle, triage tier (URGENT / ROUTINE / MONITOR / NORMAL) and referral timeframe.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49440" y="269748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0" y="2697480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3172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iris tracking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33558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runs at 30fps in the browser — user sees real-time eye detection before capture begins.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INNOVATION — 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EC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7-Module AI Pipeline — Phone Photo to Clinical Triage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078992" cy="1463040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4173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94767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Crop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&amp; crops both eyes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99032" y="2020824"/>
            <a:ext cx="158496" cy="73152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7528" y="1325880"/>
            <a:ext cx="1078992" cy="1463040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68424" y="14173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6842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03248" y="194767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 Centre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3248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+ Hough circles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 pupil precisely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36520" y="2020824"/>
            <a:ext cx="158496" cy="73152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95016" y="1325880"/>
            <a:ext cx="1078992" cy="1463040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5912" y="14173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591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840736" y="194767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Detection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40736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threshold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torch bright-spot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74008" y="2020824"/>
            <a:ext cx="158496" cy="73152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504" y="1325880"/>
            <a:ext cx="1078992" cy="1463040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14173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078224" y="194767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78224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CLR offset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pupil, normalised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11496" y="2020824"/>
            <a:ext cx="158496" cy="73152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69992" y="1325880"/>
            <a:ext cx="1078992" cy="1463040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80888" y="14173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8088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15712" y="194767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15712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Inter-ocular difference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Hirschberg degrees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348984" y="2020824"/>
            <a:ext cx="158496" cy="73152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7480" y="1325880"/>
            <a:ext cx="1078992" cy="1463040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8376" y="14173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837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53200" y="194767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53200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tier + ICD-10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referral timeframe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586472" y="2020824"/>
            <a:ext cx="158496" cy="73152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44968" y="1325880"/>
            <a:ext cx="1078992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55864" y="1417320"/>
            <a:ext cx="457200" cy="45720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5586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790688" y="194767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90688" y="22860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annotated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triage output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20040" y="30175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Phone JPEG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744968" y="301752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Report →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" y="4526280"/>
            <a:ext cx="187452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5262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sec  processing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60320" y="4526280"/>
            <a:ext cx="187452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0" y="45262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15-frame  averaging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63440" y="4526280"/>
            <a:ext cx="187452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45262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±0.7°  std deviation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766560" y="4526280"/>
            <a:ext cx="187452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0" y="45262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 outlier rejection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DIFFERENTIATION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BeanHealth CLR compares to existing approaches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8288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76272" y="1170432"/>
            <a:ext cx="164592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1170432"/>
            <a:ext cx="1645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Opthalmology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9624" y="1170432"/>
            <a:ext cx="18288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9624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Photoscreeners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(Spot, Welch Allyn)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05856" y="1170432"/>
            <a:ext cx="155448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05856" y="1170432"/>
            <a:ext cx="1554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(Manual)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87768" y="1170432"/>
            <a:ext cx="1874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170432"/>
            <a:ext cx="1874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BeanHealth CLR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71907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needed?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76272" y="1719072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21992" y="1719072"/>
            <a:ext cx="1554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ophthalmologist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9624" y="171907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344" y="171907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trained tech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05856" y="1719072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51576" y="1719072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clinician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87768" y="1719072"/>
            <a:ext cx="1874520" cy="457200"/>
          </a:xfrm>
          <a:prstGeom prst="rect">
            <a:avLst/>
          </a:prstGeom>
          <a:solidFill>
            <a:srgbClr val="E8F6F3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1719072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anyone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221992"/>
            <a:ext cx="182880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22199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cost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76272" y="2221992"/>
            <a:ext cx="164592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21992" y="2221992"/>
            <a:ext cx="1554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$10,000+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9624" y="2221992"/>
            <a:ext cx="182880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95344" y="222199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$3,000–$8,000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05856" y="2221992"/>
            <a:ext cx="155448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51576" y="2221992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(manual)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87768" y="2221992"/>
            <a:ext cx="1874520" cy="457200"/>
          </a:xfrm>
          <a:prstGeom prst="rect">
            <a:avLst/>
          </a:prstGeom>
          <a:solidFill>
            <a:srgbClr val="E8F6F3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33488" y="2221992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 (phone only)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272491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72491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home?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176272" y="2724912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21992" y="2724912"/>
            <a:ext cx="1554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49624" y="272491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95344" y="272491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05856" y="2724912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1576" y="2724912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87768" y="2724912"/>
            <a:ext cx="1874520" cy="457200"/>
          </a:xfrm>
          <a:prstGeom prst="rect">
            <a:avLst/>
          </a:prstGeom>
          <a:solidFill>
            <a:srgbClr val="E8F6F3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33488" y="2724912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3227832"/>
            <a:ext cx="182880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22783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output?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76272" y="3227832"/>
            <a:ext cx="164592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21992" y="3227832"/>
            <a:ext cx="1554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49624" y="3227832"/>
            <a:ext cx="182880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95344" y="322783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705856" y="3227832"/>
            <a:ext cx="155448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51576" y="3227832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87768" y="3227832"/>
            <a:ext cx="1874520" cy="457200"/>
          </a:xfrm>
          <a:prstGeom prst="rect">
            <a:avLst/>
          </a:prstGeom>
          <a:solidFill>
            <a:srgbClr val="E8F6F3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33488" y="3227832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(degrees + ICD)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373075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73075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async use?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76272" y="3730752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21992" y="3730752"/>
            <a:ext cx="1554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849624" y="373075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95344" y="373075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705856" y="3730752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51576" y="3730752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87768" y="3730752"/>
            <a:ext cx="1874520" cy="457200"/>
          </a:xfrm>
          <a:prstGeom prst="rect">
            <a:avLst/>
          </a:prstGeom>
          <a:solidFill>
            <a:srgbClr val="E8F6F3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33488" y="3730752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0040" y="4233672"/>
            <a:ext cx="182880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23367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averaging?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176272" y="4233672"/>
            <a:ext cx="164592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21992" y="4233672"/>
            <a:ext cx="1554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849624" y="4233672"/>
            <a:ext cx="182880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95344" y="4233672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705856" y="4233672"/>
            <a:ext cx="1554480" cy="457200"/>
          </a:xfrm>
          <a:prstGeom prst="rect">
            <a:avLst/>
          </a:prstGeom>
          <a:solidFill>
            <a:srgbClr val="EFF6F8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51576" y="4233672"/>
            <a:ext cx="1463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287768" y="4233672"/>
            <a:ext cx="1874520" cy="457200"/>
          </a:xfrm>
          <a:prstGeom prst="rect">
            <a:avLst/>
          </a:prstGeom>
          <a:solidFill>
            <a:srgbClr val="E8F6F3"/>
          </a:solidFill>
          <a:ln w="12700">
            <a:solidFill>
              <a:srgbClr val="D0DF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33488" y="4233672"/>
            <a:ext cx="1783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(15 frames)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BeanHealth CLR is the only solution that works on a standard smartphone, anywhere, anytime, with no specialist or equipment — and returns clinically structured output.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USE CASES &amp; APPLICATIONS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uses BeanHealth CLR — and how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20624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at Home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5179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Anytime, any 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detection before any clinic visit. Scan the child at home when a squint is suspected. Immediate result tells them whether to seek urgent care.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42062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2801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440680" y="1280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Nurses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5179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vision screening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cover tests during school health checks. Quantitative output flags at-risk children for GP referral. No specialist training required.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08960"/>
            <a:ext cx="42062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05840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GPs &amp; PHC Workers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4381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clinic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 credible strabismus screen in communities with no ophthalmologist. ICD-10 coded output integrates with patient records. Triage within 15 seconds.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1089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108960"/>
            <a:ext cx="420624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40680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Tele-medicine Platforms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4381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consultation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703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performs the scan at home; annotated report and images are sent to the remote clinician. Enables asynchronous squint triage over any telemedicine network.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MARKET OPPORTUNITY &amp; PATHWAY TO MARKET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468880" cy="2468880"/>
          </a:xfrm>
          <a:prstGeom prst="ellipse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Paediatric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Ophthalmology Market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estimate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468880" cy="2468880"/>
          </a:xfrm>
          <a:prstGeom prst="ellipse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unscreened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vision disorders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468880" cy="2468880"/>
          </a:xfrm>
          <a:prstGeom prst="ellipse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17830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Strabismus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population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 to Market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1828800" cy="1371600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70332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703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08736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study with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ophthalmologist ground truth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patients, 3 centres)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48840" y="4297680"/>
            <a:ext cx="396240" cy="54864"/>
          </a:xfrm>
          <a:prstGeom prst="rect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45080" y="3657600"/>
            <a:ext cx="1828800" cy="1371600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36520" y="370332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652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48000" y="3703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36520" y="408736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health programmes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rural GP networks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pilot sites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73880" y="4297680"/>
            <a:ext cx="396240" cy="54864"/>
          </a:xfrm>
          <a:prstGeom prst="rect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0120" y="3657600"/>
            <a:ext cx="1828800" cy="1371600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1560" y="370332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156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73040" y="3703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1560" y="408736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/ CE mark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Class I screening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(not diagnostic)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98920" y="4297680"/>
            <a:ext cx="396240" cy="54864"/>
          </a:xfrm>
          <a:prstGeom prst="rect">
            <a:avLst/>
          </a:prstGeom>
          <a:solidFill>
            <a:srgbClr val="02C39A">
              <a:alpha val="6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5160" y="3657600"/>
            <a:ext cx="1828800" cy="1371600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370332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0" y="3703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86600" y="4087368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licensing to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chains, insurance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telehealth platforms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EC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Advancement &amp; Market Acceleration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0 – 6 months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07568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study: 50+ patients, 3 ophthalmic centres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496312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69748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4203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labelling against slit-lamp Hirschberg measurements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3118104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31927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6382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benchmarking across diverse iris types &amp; skin tones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739896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94106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85616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 / ethics approval for data collection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4361688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56285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407408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iOS/Android app (improved torch &amp; camera API access)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1188720"/>
            <a:ext cx="27432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6 – 18 months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1874520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07568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1920240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3 school health programmes (target: 1,000 screens)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2496312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269748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54203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rural GP network in low-resource setting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3118104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31927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16382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Class I submission (India) + CE mark process (EU)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3739896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94106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3785616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integration: HL7 FHIR-compatible report export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4361688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37560" y="4562856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4407408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Paediatric-specific model fine-tuning (smaller iris radius)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72200" y="1188720"/>
            <a:ext cx="274320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18 – 36 months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72200" y="1874520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2075688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1920240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licensing to hospital chains &amp; telehealth platforms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72200" y="2496312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269748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54203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reimbursement pathway (CPT screening code)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72200" y="3118104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63640" y="3319272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3163824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amblyopia risk screening (anisometropia detection)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72200" y="3739896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3941064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785616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training on 10,000+ labelled clinical images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72200" y="4361688"/>
            <a:ext cx="2743200" cy="566928"/>
          </a:xfrm>
          <a:prstGeom prst="rect">
            <a:avLst/>
          </a:prstGeom>
          <a:solidFill>
            <a:srgbClr val="0D3154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63640" y="4562856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4407408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fundraise targeting $2M for clinical &amp; commercial scale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BeanHealth CLR Tool — Pitch Deck</dc:title>
  <dc:subject>PptxGenJS Presentation</dc:subject>
  <dc:creator>BeanHealth</dc:creator>
  <cp:lastModifiedBy>BeanHealth</cp:lastModifiedBy>
  <cp:revision>1</cp:revision>
  <dcterms:created xsi:type="dcterms:W3CDTF">2026-03-15T18:24:18Z</dcterms:created>
  <dcterms:modified xsi:type="dcterms:W3CDTF">2026-03-15T18:24:18Z</dcterms:modified>
</cp:coreProperties>
</file>